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65" r:id="rId4"/>
    <p:sldId id="269" r:id="rId5"/>
    <p:sldId id="271" r:id="rId6"/>
    <p:sldId id="266" r:id="rId7"/>
    <p:sldId id="272" r:id="rId8"/>
    <p:sldId id="267" r:id="rId9"/>
    <p:sldId id="281" r:id="rId10"/>
    <p:sldId id="262" r:id="rId11"/>
    <p:sldId id="275" r:id="rId12"/>
    <p:sldId id="276" r:id="rId13"/>
    <p:sldId id="278" r:id="rId14"/>
    <p:sldId id="279" r:id="rId15"/>
    <p:sldId id="280" r:id="rId16"/>
    <p:sldId id="277" r:id="rId17"/>
    <p:sldId id="26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4660"/>
  </p:normalViewPr>
  <p:slideViewPr>
    <p:cSldViewPr snapToGrid="0">
      <p:cViewPr varScale="1">
        <p:scale>
          <a:sx n="85" d="100"/>
          <a:sy n="85" d="100"/>
        </p:scale>
        <p:origin x="1181"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54AB02A5-4FE5-49D9-9E24-09F23B90C450}" type="datetimeFigureOut">
              <a:rPr lang="en-US" smtClean="0"/>
              <a:pPr/>
              <a:t>8/26/2025</a:t>
            </a:fld>
            <a:endParaRPr lang="en-US"/>
          </a:p>
        </p:txBody>
      </p:sp>
      <p:sp>
        <p:nvSpPr>
          <p:cNvPr id="20" name="Footer Placeholder 19"/>
          <p:cNvSpPr>
            <a:spLocks noGrp="1"/>
          </p:cNvSpPr>
          <p:nvPr>
            <p:ph type="ftr" sz="quarter" idx="11"/>
          </p:nvPr>
        </p:nvSpPr>
        <p:spPr/>
        <p:txBody>
          <a:bodyPr/>
          <a:lstStyle/>
          <a:p>
            <a:endParaRPr kumimoji="0" lang="en-US"/>
          </a:p>
        </p:txBody>
      </p:sp>
      <p:sp>
        <p:nvSpPr>
          <p:cNvPr id="10" name="Slide Number Placeholder 9"/>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4AB02A5-4FE5-49D9-9E24-09F23B90C450}"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AB02A5-4FE5-49D9-9E24-09F23B90C450}"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4AB02A5-4FE5-49D9-9E24-09F23B90C450}" type="datetimeFigureOut">
              <a:rPr lang="en-US" smtClean="0"/>
              <a:pPr/>
              <a:t>8/26/2025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4AB02A5-4FE5-49D9-9E24-09F23B90C450}" type="datetimeFigureOut">
              <a:rPr lang="en-US" smtClean="0"/>
              <a:pPr/>
              <a:t>8/26/2025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54AB02A5-4FE5-49D9-9E24-09F23B90C450}" type="datetimeFigureOut">
              <a:rPr lang="en-US" smtClean="0"/>
              <a:pPr/>
              <a:t>8/26/2025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AB02A5-4FE5-49D9-9E24-09F23B90C450}"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4AB02A5-4FE5-49D9-9E24-09F23B90C450}" type="datetimeFigureOut">
              <a:rPr lang="en-US" smtClean="0"/>
              <a:pPr/>
              <a:t>8/26/2025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8/26/2025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lgn="r" eaLnBrk="1" latinLnBrk="0" hangingPunct="1"/>
            <a:fld id="{54AB02A5-4FE5-49D9-9E24-09F23B90C450}" type="datetimeFigureOut">
              <a:rPr lang="en-US" smtClean="0"/>
              <a:pPr algn="r" eaLnBrk="1" latinLnBrk="0" hangingPunct="1"/>
              <a:t>8/26/2025</a:t>
            </a:fld>
            <a:endParaRPr lang="en-US" sz="1200">
              <a:solidFill>
                <a:schemeClr val="bg2">
                  <a:shade val="50000"/>
                </a:schemeClr>
              </a:solidFill>
            </a:endParaRPr>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kumimoji="0" lang="en-US" sz="1200">
              <a:solidFill>
                <a:schemeClr val="bg2">
                  <a:shade val="50000"/>
                </a:schemeClr>
              </a:solidFill>
              <a:effectLst/>
            </a:endParaRP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ctr" eaLnBrk="1" latinLnBrk="0" hangingPunct="1"/>
            <a:fld id="{6294C92D-0306-4E69-9CD3-20855E849650}" type="slidenum">
              <a:rPr kumimoji="0" lang="en-US" smtClean="0"/>
              <a:pPr algn="ctr" eaLnBrk="1" latinLnBrk="0" hangingPunct="1"/>
              <a:t>‹#›</a:t>
            </a:fld>
            <a:endParaRPr kumimoji="0" lang="en-US" sz="1200">
              <a:solidFill>
                <a:schemeClr val="bg2">
                  <a:shade val="50000"/>
                </a:schemeClr>
              </a:solidFill>
              <a:effectLst/>
            </a:endParaRPr>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MS logo.JPG"/>
          <p:cNvPicPr>
            <a:picLocks noChangeAspect="1"/>
          </p:cNvPicPr>
          <p:nvPr/>
        </p:nvPicPr>
        <p:blipFill>
          <a:blip r:embed="rId2" cstate="print"/>
          <a:stretch>
            <a:fillRect/>
          </a:stretch>
        </p:blipFill>
        <p:spPr>
          <a:xfrm>
            <a:off x="1104153" y="1694716"/>
            <a:ext cx="7442200" cy="2781661"/>
          </a:xfrm>
          <a:prstGeom prst="rect">
            <a:avLst/>
          </a:prstGeom>
          <a:solidFill>
            <a:schemeClr val="bg1"/>
          </a:solidFill>
          <a:ln>
            <a:solidFill>
              <a:srgbClr val="FF0000"/>
            </a:solidFill>
          </a:ln>
          <a:effectLst>
            <a:glow rad="228600">
              <a:schemeClr val="accent3">
                <a:satMod val="175000"/>
                <a:alpha val="40000"/>
              </a:schemeClr>
            </a:glow>
          </a:effectLst>
        </p:spPr>
      </p:pic>
    </p:spTree>
    <p:extLst>
      <p:ext uri="{BB962C8B-B14F-4D97-AF65-F5344CB8AC3E}">
        <p14:creationId xmlns:p14="http://schemas.microsoft.com/office/powerpoint/2010/main" val="3731197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799" y="317500"/>
            <a:ext cx="4851401" cy="669906"/>
          </a:xfrm>
        </p:spPr>
        <p:style>
          <a:lnRef idx="1">
            <a:schemeClr val="accent4"/>
          </a:lnRef>
          <a:fillRef idx="3">
            <a:schemeClr val="accent4"/>
          </a:fillRef>
          <a:effectRef idx="2">
            <a:schemeClr val="accent4"/>
          </a:effectRef>
          <a:fontRef idx="minor">
            <a:schemeClr val="lt1"/>
          </a:fontRef>
        </p:style>
        <p:txBody>
          <a:bodyPr>
            <a:normAutofit/>
          </a:bodyPr>
          <a:lstStyle/>
          <a:p>
            <a:pPr algn="ctr"/>
            <a:r>
              <a:rPr lang="en-US" sz="2800" b="1" dirty="0">
                <a:latin typeface="Times New Roman" pitchFamily="18" charset="0"/>
                <a:cs typeface="Times New Roman" pitchFamily="18" charset="0"/>
              </a:rPr>
              <a:t>INTRODUCTION</a:t>
            </a:r>
          </a:p>
        </p:txBody>
      </p:sp>
      <p:sp>
        <p:nvSpPr>
          <p:cNvPr id="3" name="Subtitle 2"/>
          <p:cNvSpPr>
            <a:spLocks noGrp="1"/>
          </p:cNvSpPr>
          <p:nvPr>
            <p:ph type="subTitle" idx="1"/>
          </p:nvPr>
        </p:nvSpPr>
        <p:spPr>
          <a:xfrm>
            <a:off x="1380671" y="1139590"/>
            <a:ext cx="7406640" cy="1752600"/>
          </a:xfrm>
        </p:spPr>
        <p:txBody>
          <a:bodyPr>
            <a:noAutofit/>
          </a:bodyPr>
          <a:lstStyle/>
          <a:p>
            <a:pPr algn="just">
              <a:buFont typeface="Wingdings" pitchFamily="2" charset="2"/>
              <a:buChar char="Ø"/>
            </a:pPr>
            <a:r>
              <a:rPr lang="en-US" sz="2000" dirty="0">
                <a:latin typeface="Times New Roman" pitchFamily="18" charset="0"/>
                <a:cs typeface="Times New Roman" pitchFamily="18" charset="0"/>
              </a:rPr>
              <a:t> Battery is the most essential component of any vehicle. So perfect maintenance of any battery is very much essential for it to function properly. </a:t>
            </a:r>
          </a:p>
          <a:p>
            <a:pPr algn="just">
              <a:buFont typeface="Wingdings" pitchFamily="2" charset="2"/>
              <a:buChar char="Ø"/>
            </a:pPr>
            <a:r>
              <a:rPr lang="en-US" sz="2000" dirty="0">
                <a:latin typeface="Times New Roman" pitchFamily="18" charset="0"/>
                <a:cs typeface="Times New Roman" pitchFamily="18" charset="0"/>
              </a:rPr>
              <a:t> Lead Acid batteries which are more commonly used in the vehicular batteries, need to be efficiently monitored, for it to perform better under all circumstances. </a:t>
            </a:r>
          </a:p>
          <a:p>
            <a:pPr algn="just"/>
            <a:endParaRPr lang="en-US" sz="2330" dirty="0">
              <a:latin typeface="Times New Roman" pitchFamily="18" charset="0"/>
              <a:cs typeface="Times New Roman" pitchFamily="18" charset="0"/>
            </a:endParaRPr>
          </a:p>
        </p:txBody>
      </p:sp>
      <p:pic>
        <p:nvPicPr>
          <p:cNvPr id="4" name="Picture 3" descr="battery.jpg"/>
          <p:cNvPicPr>
            <a:picLocks noChangeAspect="1"/>
          </p:cNvPicPr>
          <p:nvPr/>
        </p:nvPicPr>
        <p:blipFill>
          <a:blip r:embed="rId2" cstate="print"/>
          <a:stretch>
            <a:fillRect/>
          </a:stretch>
        </p:blipFill>
        <p:spPr>
          <a:xfrm>
            <a:off x="3321050" y="3362586"/>
            <a:ext cx="3511550" cy="26318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287338"/>
            <a:ext cx="4914900" cy="741362"/>
          </a:xfrm>
        </p:spPr>
        <p:style>
          <a:lnRef idx="1">
            <a:schemeClr val="accent1"/>
          </a:lnRef>
          <a:fillRef idx="3">
            <a:schemeClr val="accent1"/>
          </a:fillRef>
          <a:effectRef idx="2">
            <a:schemeClr val="accent1"/>
          </a:effectRef>
          <a:fontRef idx="minor">
            <a:schemeClr val="lt1"/>
          </a:fontRef>
        </p:style>
        <p:txBody>
          <a:bodyPr>
            <a:normAutofit/>
          </a:bodyPr>
          <a:lstStyle/>
          <a:p>
            <a:pPr algn="ctr"/>
            <a:r>
              <a:rPr lang="en-US" sz="2800" dirty="0">
                <a:latin typeface="Times New Roman" pitchFamily="18" charset="0"/>
                <a:cs typeface="Times New Roman" pitchFamily="18" charset="0"/>
              </a:rPr>
              <a:t>LITERATURE SURVEY</a:t>
            </a:r>
          </a:p>
        </p:txBody>
      </p:sp>
      <p:sp>
        <p:nvSpPr>
          <p:cNvPr id="3" name="Content Placeholder 2"/>
          <p:cNvSpPr>
            <a:spLocks noGrp="1"/>
          </p:cNvSpPr>
          <p:nvPr>
            <p:ph idx="1"/>
          </p:nvPr>
        </p:nvSpPr>
        <p:spPr>
          <a:xfrm>
            <a:off x="1067308" y="1562100"/>
            <a:ext cx="7848092" cy="4838700"/>
          </a:xfrm>
        </p:spPr>
        <p:txBody>
          <a:bodyPr>
            <a:normAutofit/>
          </a:bodyPr>
          <a:lstStyle/>
          <a:p>
            <a:pPr algn="just">
              <a:buFont typeface="Wingdings" pitchFamily="2" charset="2"/>
              <a:buChar char="Ø"/>
            </a:pPr>
            <a:r>
              <a:rPr lang="en-US" sz="2000" spc="100" dirty="0">
                <a:latin typeface="Times New Roman" pitchFamily="18" charset="0"/>
                <a:cs typeface="Times New Roman" pitchFamily="18" charset="0"/>
              </a:rPr>
              <a:t>We have Examined that current Battery Management System Architecture developed doesn’t have a mobile App system.</a:t>
            </a:r>
          </a:p>
          <a:p>
            <a:pPr algn="just">
              <a:buNone/>
            </a:pPr>
            <a:endParaRPr lang="en-US" sz="2000" spc="100" dirty="0">
              <a:latin typeface="Times New Roman" pitchFamily="18" charset="0"/>
              <a:cs typeface="Times New Roman" pitchFamily="18" charset="0"/>
            </a:endParaRPr>
          </a:p>
          <a:p>
            <a:pPr algn="just">
              <a:buFont typeface="Wingdings" pitchFamily="2" charset="2"/>
              <a:buChar char="Ø"/>
            </a:pPr>
            <a:r>
              <a:rPr lang="en-US" sz="2000" spc="100" dirty="0">
                <a:latin typeface="Times New Roman" pitchFamily="18" charset="0"/>
                <a:cs typeface="Times New Roman" pitchFamily="18" charset="0"/>
              </a:rPr>
              <a:t>It doesn’t give information to the user about battery status and its internal parameters.</a:t>
            </a:r>
          </a:p>
          <a:p>
            <a:pPr algn="just">
              <a:buNone/>
            </a:pPr>
            <a:endParaRPr lang="en-US" sz="2000" spc="100" dirty="0">
              <a:latin typeface="Times New Roman" pitchFamily="18" charset="0"/>
              <a:cs typeface="Times New Roman" pitchFamily="18" charset="0"/>
            </a:endParaRPr>
          </a:p>
          <a:p>
            <a:pPr algn="just">
              <a:buFont typeface="Wingdings" pitchFamily="2" charset="2"/>
              <a:buChar char="Ø"/>
            </a:pPr>
            <a:r>
              <a:rPr lang="en-US" sz="2000" spc="100" dirty="0">
                <a:latin typeface="Times New Roman" pitchFamily="18" charset="0"/>
                <a:cs typeface="Times New Roman" pitchFamily="18" charset="0"/>
              </a:rPr>
              <a:t>Our Project differs from the existing BMS in showing the battery parameters through various interfaces like Mobile App , Website.</a:t>
            </a:r>
          </a:p>
          <a:p>
            <a:pPr algn="just">
              <a:buFont typeface="Wingdings" pitchFamily="2" charset="2"/>
              <a:buChar char="Ø"/>
            </a:pPr>
            <a:endParaRPr lang="en-US" sz="2000" spc="100" dirty="0">
              <a:latin typeface="Times New Roman" pitchFamily="18" charset="0"/>
              <a:cs typeface="Times New Roman" pitchFamily="18" charset="0"/>
            </a:endParaRPr>
          </a:p>
          <a:p>
            <a:pPr algn="just">
              <a:buFont typeface="Wingdings" pitchFamily="2" charset="2"/>
              <a:buChar char="Ø"/>
            </a:pPr>
            <a:r>
              <a:rPr lang="en-US" sz="2000" spc="100" dirty="0">
                <a:latin typeface="Times New Roman" pitchFamily="18" charset="0"/>
                <a:cs typeface="Times New Roman" pitchFamily="18" charset="0"/>
              </a:rPr>
              <a:t>And the existing Battery Management System developed is based on Electric Vehicles only &amp; not working model on Normal Automobiles. </a:t>
            </a:r>
          </a:p>
          <a:p>
            <a:pPr algn="just">
              <a:buFont typeface="Wingdings" pitchFamily="2" charset="2"/>
              <a:buChar char="Ø"/>
            </a:pPr>
            <a:endParaRPr lang="en-US" sz="2800" spc="100" dirty="0">
              <a:latin typeface="Times New Roman" pitchFamily="18" charset="0"/>
              <a:cs typeface="Times New Roman" pitchFamily="18" charset="0"/>
            </a:endParaRPr>
          </a:p>
          <a:p>
            <a:pPr algn="just">
              <a:buFont typeface="Wingdings" pitchFamily="2" charset="2"/>
              <a:buChar char="Ø"/>
            </a:pPr>
            <a:endParaRPr lang="en-US" sz="2800" spc="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80160" y="1253164"/>
            <a:ext cx="7406640" cy="2252036"/>
          </a:xfrm>
        </p:spPr>
        <p:txBody>
          <a:bodyPr>
            <a:noAutofit/>
          </a:bodyPr>
          <a:lstStyle/>
          <a:p>
            <a:pPr algn="just"/>
            <a:r>
              <a:rPr lang="en-US" sz="2800" dirty="0">
                <a:latin typeface="Times New Roman" pitchFamily="18" charset="0"/>
                <a:cs typeface="Times New Roman" pitchFamily="18" charset="0"/>
              </a:rPr>
              <a:t>		</a:t>
            </a:r>
            <a:r>
              <a:rPr lang="en-US" sz="2330" dirty="0">
                <a:latin typeface="Times New Roman" pitchFamily="18" charset="0"/>
                <a:cs typeface="Times New Roman" pitchFamily="18" charset="0"/>
              </a:rPr>
              <a:t>The traditional BMS which is present in automobile displays , the battery status in the form of icon without showing its internal </a:t>
            </a:r>
            <a:r>
              <a:rPr lang="en-US" sz="2330" dirty="0" err="1">
                <a:latin typeface="Times New Roman" pitchFamily="18" charset="0"/>
                <a:cs typeface="Times New Roman" pitchFamily="18" charset="0"/>
              </a:rPr>
              <a:t>parameters,when</a:t>
            </a:r>
            <a:r>
              <a:rPr lang="en-US" sz="2330" dirty="0">
                <a:latin typeface="Times New Roman" pitchFamily="18" charset="0"/>
                <a:cs typeface="Times New Roman" pitchFamily="18" charset="0"/>
              </a:rPr>
              <a:t> user tries to start or run the vehicle it indicates through led battery symbol only. </a:t>
            </a:r>
            <a:endParaRPr lang="en-US" sz="2800" dirty="0">
              <a:latin typeface="Times New Roman" pitchFamily="18" charset="0"/>
              <a:cs typeface="Times New Roman" pitchFamily="18" charset="0"/>
            </a:endParaRPr>
          </a:p>
        </p:txBody>
      </p:sp>
      <p:sp>
        <p:nvSpPr>
          <p:cNvPr id="5" name="Title 1"/>
          <p:cNvSpPr txBox="1">
            <a:spLocks/>
          </p:cNvSpPr>
          <p:nvPr/>
        </p:nvSpPr>
        <p:spPr>
          <a:xfrm>
            <a:off x="2743200" y="431800"/>
            <a:ext cx="4914900" cy="596900"/>
          </a:xfrm>
          <a:prstGeom prst="rect">
            <a:avLst/>
          </a:prstGeom>
        </p:spPr>
        <p:style>
          <a:lnRef idx="1">
            <a:schemeClr val="accent3"/>
          </a:lnRef>
          <a:fillRef idx="2">
            <a:schemeClr val="accent3"/>
          </a:fillRef>
          <a:effectRef idx="1">
            <a:schemeClr val="accent3"/>
          </a:effectRef>
          <a:fontRef idx="minor">
            <a:schemeClr val="dk1"/>
          </a:fontRef>
        </p:style>
        <p:txBody>
          <a:bodyPr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EXISTING</a:t>
            </a:r>
            <a:r>
              <a:rPr kumimoji="0" lang="en-US" sz="2800" b="0" i="0" u="none" strike="noStrike" kern="1200" cap="none" spc="0" normalizeH="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 SYSTEM</a:t>
            </a:r>
            <a:endParaRPr kumimoji="0" lang="en-US" sz="2800" b="0"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4" name="Picture 3" descr="existing.jpg"/>
          <p:cNvPicPr>
            <a:picLocks noChangeAspect="1"/>
          </p:cNvPicPr>
          <p:nvPr/>
        </p:nvPicPr>
        <p:blipFill>
          <a:blip r:embed="rId2" cstate="print"/>
          <a:stretch>
            <a:fillRect/>
          </a:stretch>
        </p:blipFill>
        <p:spPr>
          <a:xfrm>
            <a:off x="3429000" y="3854300"/>
            <a:ext cx="3556000" cy="2127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81760" y="1253164"/>
            <a:ext cx="7406640" cy="2379036"/>
          </a:xfrm>
        </p:spPr>
        <p:txBody>
          <a:bodyPr>
            <a:noAutofit/>
          </a:bodyPr>
          <a:lstStyle/>
          <a:p>
            <a:pPr algn="just"/>
            <a:r>
              <a:rPr lang="en-US" sz="2800" dirty="0">
                <a:latin typeface="Times New Roman" pitchFamily="18" charset="0"/>
                <a:cs typeface="Times New Roman" pitchFamily="18" charset="0"/>
              </a:rPr>
              <a:t>		</a:t>
            </a:r>
            <a:r>
              <a:rPr lang="en-US" sz="2330" dirty="0">
                <a:latin typeface="Times New Roman" pitchFamily="18" charset="0"/>
                <a:cs typeface="Times New Roman" pitchFamily="18" charset="0"/>
              </a:rPr>
              <a:t>Based on the problems in the traditional battery management system , we proposed a battery monitoring system through which user can interactively monitor the battery .Based on the internal parameter like State of Charge (</a:t>
            </a:r>
            <a:r>
              <a:rPr lang="en-US" sz="2330" dirty="0" err="1">
                <a:latin typeface="Times New Roman" pitchFamily="18" charset="0"/>
                <a:cs typeface="Times New Roman" pitchFamily="18" charset="0"/>
              </a:rPr>
              <a:t>SoC</a:t>
            </a:r>
            <a:r>
              <a:rPr lang="en-US" sz="2330" dirty="0">
                <a:latin typeface="Times New Roman" pitchFamily="18" charset="0"/>
                <a:cs typeface="Times New Roman" pitchFamily="18" charset="0"/>
              </a:rPr>
              <a:t>) using a mobile app and website through IOT technology.</a:t>
            </a:r>
            <a:endParaRPr lang="en-IN" sz="2330" dirty="0">
              <a:latin typeface="Times New Roman" pitchFamily="18" charset="0"/>
              <a:cs typeface="Times New Roman" pitchFamily="18" charset="0"/>
            </a:endParaRPr>
          </a:p>
        </p:txBody>
      </p:sp>
      <p:sp>
        <p:nvSpPr>
          <p:cNvPr id="5" name="Title 1"/>
          <p:cNvSpPr txBox="1">
            <a:spLocks/>
          </p:cNvSpPr>
          <p:nvPr/>
        </p:nvSpPr>
        <p:spPr>
          <a:xfrm>
            <a:off x="2603500" y="444500"/>
            <a:ext cx="4914900" cy="609600"/>
          </a:xfrm>
          <a:prstGeom prst="rect">
            <a:avLst/>
          </a:prstGeom>
        </p:spPr>
        <p:style>
          <a:lnRef idx="1">
            <a:schemeClr val="dk1"/>
          </a:lnRef>
          <a:fillRef idx="3">
            <a:schemeClr val="dk1"/>
          </a:fillRef>
          <a:effectRef idx="2">
            <a:schemeClr val="dk1"/>
          </a:effectRef>
          <a:fontRef idx="minor">
            <a:schemeClr val="lt1"/>
          </a:fontRef>
        </p:style>
        <p:txBody>
          <a:bodyPr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PROPOSED  SYSTEM</a:t>
            </a:r>
          </a:p>
        </p:txBody>
      </p:sp>
      <p:pic>
        <p:nvPicPr>
          <p:cNvPr id="4" name="Picture 3" descr="android.png"/>
          <p:cNvPicPr>
            <a:picLocks noChangeAspect="1"/>
          </p:cNvPicPr>
          <p:nvPr/>
        </p:nvPicPr>
        <p:blipFill>
          <a:blip r:embed="rId2" cstate="print"/>
          <a:stretch>
            <a:fillRect/>
          </a:stretch>
        </p:blipFill>
        <p:spPr>
          <a:xfrm>
            <a:off x="1333500" y="4102100"/>
            <a:ext cx="1536700" cy="1536700"/>
          </a:xfrm>
          <a:prstGeom prst="rect">
            <a:avLst/>
          </a:prstGeom>
        </p:spPr>
      </p:pic>
      <p:pic>
        <p:nvPicPr>
          <p:cNvPr id="6" name="Picture 5" descr="website.png"/>
          <p:cNvPicPr>
            <a:picLocks noChangeAspect="1"/>
          </p:cNvPicPr>
          <p:nvPr/>
        </p:nvPicPr>
        <p:blipFill>
          <a:blip r:embed="rId3" cstate="print"/>
          <a:stretch>
            <a:fillRect/>
          </a:stretch>
        </p:blipFill>
        <p:spPr>
          <a:xfrm>
            <a:off x="6616699" y="3919537"/>
            <a:ext cx="1668463" cy="1668463"/>
          </a:xfrm>
          <a:prstGeom prst="rect">
            <a:avLst/>
          </a:prstGeom>
        </p:spPr>
      </p:pic>
      <p:pic>
        <p:nvPicPr>
          <p:cNvPr id="7" name="Picture 6" descr="car-battery-icon-01-.jpg"/>
          <p:cNvPicPr>
            <a:picLocks noChangeAspect="1"/>
          </p:cNvPicPr>
          <p:nvPr/>
        </p:nvPicPr>
        <p:blipFill>
          <a:blip r:embed="rId4" cstate="print"/>
          <a:stretch>
            <a:fillRect/>
          </a:stretch>
        </p:blipFill>
        <p:spPr>
          <a:xfrm>
            <a:off x="3962401" y="4076700"/>
            <a:ext cx="1714500" cy="1358900"/>
          </a:xfrm>
          <a:prstGeom prst="rect">
            <a:avLst/>
          </a:prstGeom>
        </p:spPr>
      </p:pic>
      <p:sp>
        <p:nvSpPr>
          <p:cNvPr id="8" name="TextBox 7"/>
          <p:cNvSpPr txBox="1"/>
          <p:nvPr/>
        </p:nvSpPr>
        <p:spPr>
          <a:xfrm>
            <a:off x="1155700" y="3670300"/>
            <a:ext cx="7772400" cy="369332"/>
          </a:xfrm>
          <a:prstGeom prst="rect">
            <a:avLst/>
          </a:prstGeom>
          <a:noFill/>
        </p:spPr>
        <p:txBody>
          <a:bodyPr wrap="square" rtlCol="0">
            <a:spAutoFit/>
          </a:bodyPr>
          <a:lstStyle/>
          <a:p>
            <a:endParaRPr lang="en-US" dirty="0"/>
          </a:p>
        </p:txBody>
      </p:sp>
      <p:cxnSp>
        <p:nvCxnSpPr>
          <p:cNvPr id="10" name="Straight Arrow Connector 9"/>
          <p:cNvCxnSpPr/>
          <p:nvPr/>
        </p:nvCxnSpPr>
        <p:spPr>
          <a:xfrm flipH="1">
            <a:off x="3048000" y="4800600"/>
            <a:ext cx="1270000" cy="12700"/>
          </a:xfrm>
          <a:prstGeom prst="straightConnector1">
            <a:avLst/>
          </a:prstGeom>
          <a:ln w="34925" cmpd="sng">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6" idx="1"/>
          </p:cNvCxnSpPr>
          <p:nvPr/>
        </p:nvCxnSpPr>
        <p:spPr>
          <a:xfrm>
            <a:off x="5422900" y="4749800"/>
            <a:ext cx="1193799" cy="3969"/>
          </a:xfrm>
          <a:prstGeom prst="straightConnector1">
            <a:avLst/>
          </a:prstGeom>
          <a:ln w="34925" cmpd="sng">
            <a:headEnd type="none"/>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19960" y="469900"/>
            <a:ext cx="5793740" cy="612882"/>
          </a:xfrm>
        </p:spPr>
        <p:style>
          <a:lnRef idx="0">
            <a:schemeClr val="accent3"/>
          </a:lnRef>
          <a:fillRef idx="3">
            <a:schemeClr val="accent3"/>
          </a:fillRef>
          <a:effectRef idx="3">
            <a:schemeClr val="accent3"/>
          </a:effectRef>
          <a:fontRef idx="minor">
            <a:schemeClr val="lt1"/>
          </a:fontRef>
        </p:style>
        <p:txBody>
          <a:bodyPr>
            <a:normAutofit/>
          </a:bodyPr>
          <a:lstStyle/>
          <a:p>
            <a:pPr algn="ctr"/>
            <a:r>
              <a:rPr lang="en-US" sz="2800" b="1" dirty="0">
                <a:latin typeface="Times New Roman" pitchFamily="18" charset="0"/>
                <a:cs typeface="Times New Roman" pitchFamily="18" charset="0"/>
              </a:rPr>
              <a:t>  REQUIREMENTS</a:t>
            </a:r>
            <a:endParaRPr lang="en-IN" sz="2800" b="1" dirty="0">
              <a:latin typeface="Times New Roman" pitchFamily="18" charset="0"/>
              <a:cs typeface="Times New Roman" pitchFamily="18" charset="0"/>
            </a:endParaRPr>
          </a:p>
        </p:txBody>
      </p:sp>
      <p:sp>
        <p:nvSpPr>
          <p:cNvPr id="3" name="Subtitle 2"/>
          <p:cNvSpPr>
            <a:spLocks noGrp="1"/>
          </p:cNvSpPr>
          <p:nvPr>
            <p:ph type="subTitle" idx="1"/>
          </p:nvPr>
        </p:nvSpPr>
        <p:spPr>
          <a:xfrm>
            <a:off x="810260" y="1384300"/>
            <a:ext cx="7406640" cy="4495800"/>
          </a:xfrm>
        </p:spPr>
        <p:txBody>
          <a:bodyPr>
            <a:normAutofit lnSpcReduction="10000"/>
          </a:bodyPr>
          <a:lstStyle/>
          <a:p>
            <a:r>
              <a:rPr lang="en-US" b="1" dirty="0">
                <a:latin typeface="Times New Roman" pitchFamily="18" charset="0"/>
                <a:cs typeface="Times New Roman" pitchFamily="18" charset="0"/>
              </a:rPr>
              <a:t> Software:</a:t>
            </a:r>
          </a:p>
          <a:p>
            <a:r>
              <a:rPr lang="en-US" sz="2330" dirty="0">
                <a:latin typeface="Times New Roman" pitchFamily="18" charset="0"/>
                <a:cs typeface="Times New Roman" pitchFamily="18" charset="0"/>
              </a:rPr>
              <a:t>        Sublime Text 3.</a:t>
            </a:r>
          </a:p>
          <a:p>
            <a:r>
              <a:rPr lang="en-US" sz="2330" dirty="0">
                <a:latin typeface="Times New Roman" pitchFamily="18" charset="0"/>
                <a:cs typeface="Times New Roman" pitchFamily="18" charset="0"/>
              </a:rPr>
              <a:t>        </a:t>
            </a:r>
            <a:r>
              <a:rPr lang="en-US" sz="2330" dirty="0" err="1">
                <a:latin typeface="Times New Roman" pitchFamily="18" charset="0"/>
                <a:cs typeface="Times New Roman" pitchFamily="18" charset="0"/>
              </a:rPr>
              <a:t>Arduino</a:t>
            </a:r>
            <a:r>
              <a:rPr lang="en-US" sz="2330" dirty="0">
                <a:latin typeface="Times New Roman" pitchFamily="18" charset="0"/>
                <a:cs typeface="Times New Roman" pitchFamily="18" charset="0"/>
              </a:rPr>
              <a:t> </a:t>
            </a:r>
            <a:r>
              <a:rPr lang="en-US" sz="2330" dirty="0" err="1">
                <a:latin typeface="Times New Roman" pitchFamily="18" charset="0"/>
                <a:cs typeface="Times New Roman" pitchFamily="18" charset="0"/>
              </a:rPr>
              <a:t>Ide</a:t>
            </a:r>
            <a:r>
              <a:rPr lang="en-US" sz="2330" dirty="0">
                <a:latin typeface="Times New Roman" pitchFamily="18" charset="0"/>
                <a:cs typeface="Times New Roman" pitchFamily="18" charset="0"/>
              </a:rPr>
              <a:t>.</a:t>
            </a:r>
          </a:p>
          <a:p>
            <a:r>
              <a:rPr lang="en-US" sz="2330" dirty="0">
                <a:latin typeface="Times New Roman" pitchFamily="18" charset="0"/>
                <a:cs typeface="Times New Roman" pitchFamily="18" charset="0"/>
              </a:rPr>
              <a:t>        Android studio</a:t>
            </a:r>
            <a:r>
              <a:rPr lang="en-US" sz="2200" dirty="0">
                <a:latin typeface="Times New Roman" pitchFamily="18" charset="0"/>
                <a:cs typeface="Times New Roman" pitchFamily="18" charset="0"/>
              </a:rPr>
              <a:t>.</a:t>
            </a:r>
          </a:p>
          <a:p>
            <a:r>
              <a:rPr lang="en-US" b="1">
                <a:latin typeface="Times New Roman" pitchFamily="18" charset="0"/>
                <a:cs typeface="Times New Roman" pitchFamily="18" charset="0"/>
              </a:rPr>
              <a:t> Hardware</a:t>
            </a:r>
            <a:r>
              <a:rPr lang="en-US" b="1"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sz="2330" dirty="0" err="1">
                <a:latin typeface="Times New Roman" pitchFamily="18" charset="0"/>
                <a:cs typeface="Times New Roman" pitchFamily="18" charset="0"/>
              </a:rPr>
              <a:t>Arduino</a:t>
            </a:r>
            <a:r>
              <a:rPr lang="en-US" sz="2330" dirty="0">
                <a:latin typeface="Times New Roman" pitchFamily="18" charset="0"/>
                <a:cs typeface="Times New Roman" pitchFamily="18" charset="0"/>
              </a:rPr>
              <a:t> UNO board.</a:t>
            </a:r>
          </a:p>
          <a:p>
            <a:r>
              <a:rPr lang="en-US" sz="2330" dirty="0">
                <a:latin typeface="Times New Roman" pitchFamily="18" charset="0"/>
                <a:cs typeface="Times New Roman" pitchFamily="18" charset="0"/>
              </a:rPr>
              <a:t>        Bluetooth module. </a:t>
            </a:r>
          </a:p>
          <a:p>
            <a:r>
              <a:rPr lang="en-US" sz="2330" dirty="0">
                <a:latin typeface="Times New Roman" pitchFamily="18" charset="0"/>
                <a:cs typeface="Times New Roman" pitchFamily="18" charset="0"/>
              </a:rPr>
              <a:t>        Temperature sensor.</a:t>
            </a:r>
          </a:p>
          <a:p>
            <a:r>
              <a:rPr lang="en-US" sz="2330" dirty="0">
                <a:latin typeface="Times New Roman" pitchFamily="18" charset="0"/>
                <a:cs typeface="Times New Roman" pitchFamily="18" charset="0"/>
              </a:rPr>
              <a:t>        </a:t>
            </a:r>
            <a:r>
              <a:rPr lang="en-US" sz="2330" dirty="0" err="1">
                <a:latin typeface="Times New Roman" pitchFamily="18" charset="0"/>
                <a:cs typeface="Times New Roman" pitchFamily="18" charset="0"/>
              </a:rPr>
              <a:t>Wifi</a:t>
            </a:r>
            <a:r>
              <a:rPr lang="en-US" sz="2330" dirty="0">
                <a:latin typeface="Times New Roman" pitchFamily="18" charset="0"/>
                <a:cs typeface="Times New Roman" pitchFamily="18" charset="0"/>
              </a:rPr>
              <a:t> Module.</a:t>
            </a:r>
          </a:p>
          <a:p>
            <a:r>
              <a:rPr lang="en-US" sz="2330" dirty="0">
                <a:latin typeface="Times New Roman" pitchFamily="18" charset="0"/>
                <a:cs typeface="Times New Roman" pitchFamily="18" charset="0"/>
              </a:rPr>
              <a:t>        9v Battery(lead-acid).</a:t>
            </a:r>
          </a:p>
          <a:p>
            <a:r>
              <a:rPr lang="en-US" sz="2330" dirty="0">
                <a:latin typeface="Times New Roman" pitchFamily="18" charset="0"/>
                <a:cs typeface="Times New Roman" pitchFamily="18" charset="0"/>
              </a:rPr>
              <a:t>        Power supply Adapter.</a:t>
            </a:r>
          </a:p>
          <a:p>
            <a:pPr>
              <a:buFont typeface="Arial" pitchFamily="34" charset="0"/>
              <a:buChar char="•"/>
            </a:pPr>
            <a:endParaRPr lang="en-IN"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32660" y="190500"/>
            <a:ext cx="5793740" cy="612882"/>
          </a:xfrm>
          <a:prstGeom prst="rect">
            <a:avLst/>
          </a:prstGeom>
        </p:spPr>
        <p:style>
          <a:lnRef idx="1">
            <a:schemeClr val="accent5"/>
          </a:lnRef>
          <a:fillRef idx="3">
            <a:schemeClr val="accent5"/>
          </a:fillRef>
          <a:effectRef idx="2">
            <a:schemeClr val="accent5"/>
          </a:effectRef>
          <a:fontRef idx="minor">
            <a:schemeClr val="lt1"/>
          </a:fontRef>
        </p:style>
        <p:txBody>
          <a:bodyPr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effectLst>
                  <a:outerShdw blurRad="50000" dist="30000" dir="5400000" algn="tl" rotWithShape="0">
                    <a:srgbClr val="000000">
                      <a:alpha val="30000"/>
                    </a:srgbClr>
                  </a:outerShdw>
                </a:effectLst>
                <a:latin typeface="Times New Roman" pitchFamily="18" charset="0"/>
                <a:cs typeface="Times New Roman" pitchFamily="18" charset="0"/>
              </a:rPr>
              <a:t>MODULES</a:t>
            </a:r>
            <a:endParaRPr kumimoji="0" lang="en-IN" sz="2800" b="1"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sp>
        <p:nvSpPr>
          <p:cNvPr id="5" name="TextBox 4"/>
          <p:cNvSpPr txBox="1"/>
          <p:nvPr/>
        </p:nvSpPr>
        <p:spPr>
          <a:xfrm>
            <a:off x="1079500" y="901700"/>
            <a:ext cx="7810500" cy="6463308"/>
          </a:xfrm>
          <a:prstGeom prst="rect">
            <a:avLst/>
          </a:prstGeom>
          <a:noFill/>
        </p:spPr>
        <p:txBody>
          <a:bodyPr wrap="square" rtlCol="0">
            <a:spAutoFit/>
          </a:bodyPr>
          <a:lstStyle/>
          <a:p>
            <a:r>
              <a:rPr lang="en-US" dirty="0">
                <a:solidFill>
                  <a:srgbClr val="FF0000"/>
                </a:solidFill>
              </a:rPr>
              <a:t>          </a:t>
            </a:r>
          </a:p>
          <a:p>
            <a:r>
              <a:rPr lang="en-US" dirty="0">
                <a:solidFill>
                  <a:srgbClr val="FF0000"/>
                </a:solidFill>
              </a:rPr>
              <a:t>                     </a:t>
            </a:r>
            <a:r>
              <a:rPr lang="en-US" b="1" dirty="0">
                <a:solidFill>
                  <a:srgbClr val="FF0000"/>
                </a:solidFill>
                <a:latin typeface="Times New Roman" pitchFamily="18" charset="0"/>
                <a:cs typeface="Times New Roman" pitchFamily="18" charset="0"/>
              </a:rPr>
              <a:t>Bluetooth Connect </a:t>
            </a:r>
            <a:r>
              <a:rPr lang="en-US" dirty="0">
                <a:latin typeface="Times New Roman" pitchFamily="18" charset="0"/>
                <a:cs typeface="Times New Roman" pitchFamily="18" charset="0"/>
              </a:rPr>
              <a:t>: In this the user connects to the IOT          	       	       device  using the </a:t>
            </a:r>
            <a:r>
              <a:rPr lang="en-US" dirty="0" err="1">
                <a:latin typeface="Times New Roman" pitchFamily="18" charset="0"/>
                <a:cs typeface="Times New Roman" pitchFamily="18" charset="0"/>
              </a:rPr>
              <a:t>bluetooth</a:t>
            </a:r>
            <a:r>
              <a:rPr lang="en-US" dirty="0">
                <a:latin typeface="Times New Roman" pitchFamily="18" charset="0"/>
                <a:cs typeface="Times New Roman" pitchFamily="18" charset="0"/>
              </a:rPr>
              <a:t>  from his  mobile to monitor the  battery. </a:t>
            </a:r>
          </a:p>
          <a:p>
            <a:r>
              <a:rPr lang="en-US" dirty="0">
                <a:solidFill>
                  <a:srgbClr val="FF0000"/>
                </a:solidFill>
                <a:latin typeface="Times New Roman" pitchFamily="18" charset="0"/>
                <a:cs typeface="Times New Roman" pitchFamily="18" charset="0"/>
              </a:rPr>
              <a:t>          </a:t>
            </a:r>
          </a:p>
          <a:p>
            <a:r>
              <a:rPr lang="en-US" dirty="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Temperature </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Here the user can see the temperature  readings 		         from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device.</a:t>
            </a:r>
          </a:p>
          <a:p>
            <a:r>
              <a:rPr lang="en-US" dirty="0">
                <a:solidFill>
                  <a:srgbClr val="FF0000"/>
                </a:solidFill>
                <a:latin typeface="Times New Roman" pitchFamily="18" charset="0"/>
                <a:cs typeface="Times New Roman" pitchFamily="18" charset="0"/>
              </a:rPr>
              <a:t>                      </a:t>
            </a:r>
          </a:p>
          <a:p>
            <a:endParaRPr lang="en-US" dirty="0">
              <a:solidFill>
                <a:srgbClr val="FF0000"/>
              </a:solidFill>
              <a:latin typeface="Times New Roman" pitchFamily="18" charset="0"/>
              <a:cs typeface="Times New Roman" pitchFamily="18" charset="0"/>
            </a:endParaRPr>
          </a:p>
          <a:p>
            <a:endParaRPr lang="en-US" dirty="0">
              <a:solidFill>
                <a:srgbClr val="FF0000"/>
              </a:solidFill>
              <a:latin typeface="Times New Roman" pitchFamily="18" charset="0"/>
              <a:cs typeface="Times New Roman" pitchFamily="18" charset="0"/>
            </a:endParaRPr>
          </a:p>
          <a:p>
            <a:r>
              <a:rPr lang="en-US" dirty="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Percentage</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 It displays the battery percentage based on its      		         usage by the user.</a:t>
            </a:r>
          </a:p>
          <a:p>
            <a:endParaRPr lang="en-US" dirty="0">
              <a:solidFill>
                <a:srgbClr val="FF0000"/>
              </a:solidFill>
              <a:latin typeface="Times New Roman" pitchFamily="18" charset="0"/>
              <a:cs typeface="Times New Roman" pitchFamily="18" charset="0"/>
            </a:endParaRPr>
          </a:p>
          <a:p>
            <a:endParaRPr lang="en-US" dirty="0">
              <a:solidFill>
                <a:srgbClr val="FF0000"/>
              </a:solidFill>
              <a:latin typeface="Times New Roman" pitchFamily="18" charset="0"/>
              <a:cs typeface="Times New Roman" pitchFamily="18" charset="0"/>
            </a:endParaRPr>
          </a:p>
          <a:p>
            <a:r>
              <a:rPr lang="en-US" dirty="0">
                <a:solidFill>
                  <a:srgbClr val="FF0000"/>
                </a:solidFill>
                <a:latin typeface="Times New Roman" pitchFamily="18" charset="0"/>
                <a:cs typeface="Times New Roman" pitchFamily="18" charset="0"/>
              </a:rPr>
              <a:t>                         </a:t>
            </a:r>
            <a:r>
              <a:rPr lang="en-US" b="1" dirty="0">
                <a:solidFill>
                  <a:srgbClr val="FF0000"/>
                </a:solidFill>
                <a:latin typeface="Times New Roman" pitchFamily="18" charset="0"/>
                <a:cs typeface="Times New Roman" pitchFamily="18" charset="0"/>
              </a:rPr>
              <a:t>Voltage </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Here the Voltage refers the battery potentials which                	          will be based on the battery percentage and its  charging.</a:t>
            </a:r>
          </a:p>
          <a:p>
            <a:endParaRPr lang="en-US" dirty="0">
              <a:solidFill>
                <a:srgbClr val="FF0000"/>
              </a:solidFill>
              <a:latin typeface="Times New Roman" pitchFamily="18" charset="0"/>
              <a:cs typeface="Times New Roman" pitchFamily="18" charset="0"/>
            </a:endParaRPr>
          </a:p>
          <a:p>
            <a:r>
              <a:rPr lang="en-US" dirty="0">
                <a:solidFill>
                  <a:srgbClr val="FF0000"/>
                </a:solidFill>
                <a:latin typeface="Times New Roman" pitchFamily="18" charset="0"/>
                <a:cs typeface="Times New Roman" pitchFamily="18" charset="0"/>
              </a:rPr>
              <a:t>                 </a:t>
            </a:r>
          </a:p>
          <a:p>
            <a:r>
              <a:rPr lang="en-US" b="1" dirty="0">
                <a:solidFill>
                  <a:srgbClr val="FF0000"/>
                </a:solidFill>
                <a:latin typeface="Times New Roman" pitchFamily="18" charset="0"/>
                <a:cs typeface="Times New Roman" pitchFamily="18" charset="0"/>
              </a:rPr>
              <a:t>                         Charging / Discharging Status </a:t>
            </a:r>
            <a:r>
              <a:rPr lang="en-US" dirty="0">
                <a:latin typeface="Times New Roman" pitchFamily="18" charset="0"/>
                <a:cs typeface="Times New Roman" pitchFamily="18" charset="0"/>
              </a:rPr>
              <a:t>: It display the battery charging /                	         Discharging status when the user connects it for charging.</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a:p>
            <a:endParaRPr lang="en-US" dirty="0"/>
          </a:p>
        </p:txBody>
      </p:sp>
      <p:pic>
        <p:nvPicPr>
          <p:cNvPr id="7" name="Picture 6" descr="bluetooth.png"/>
          <p:cNvPicPr>
            <a:picLocks noChangeAspect="1"/>
          </p:cNvPicPr>
          <p:nvPr/>
        </p:nvPicPr>
        <p:blipFill>
          <a:blip r:embed="rId2" cstate="print"/>
          <a:stretch>
            <a:fillRect/>
          </a:stretch>
        </p:blipFill>
        <p:spPr>
          <a:xfrm>
            <a:off x="1206500" y="971062"/>
            <a:ext cx="901700" cy="832338"/>
          </a:xfrm>
          <a:prstGeom prst="rect">
            <a:avLst/>
          </a:prstGeom>
        </p:spPr>
      </p:pic>
      <p:pic>
        <p:nvPicPr>
          <p:cNvPr id="9" name="Picture 8" descr="voltage.png"/>
          <p:cNvPicPr>
            <a:picLocks noChangeAspect="1"/>
          </p:cNvPicPr>
          <p:nvPr/>
        </p:nvPicPr>
        <p:blipFill>
          <a:blip r:embed="rId3" cstate="print"/>
          <a:stretch>
            <a:fillRect/>
          </a:stretch>
        </p:blipFill>
        <p:spPr>
          <a:xfrm>
            <a:off x="1438275" y="4460875"/>
            <a:ext cx="628650" cy="933450"/>
          </a:xfrm>
          <a:prstGeom prst="rect">
            <a:avLst/>
          </a:prstGeom>
        </p:spPr>
      </p:pic>
      <p:pic>
        <p:nvPicPr>
          <p:cNvPr id="11" name="Picture 10" descr="plug.png"/>
          <p:cNvPicPr>
            <a:picLocks noChangeAspect="1"/>
          </p:cNvPicPr>
          <p:nvPr/>
        </p:nvPicPr>
        <p:blipFill>
          <a:blip r:embed="rId4" cstate="print"/>
          <a:stretch>
            <a:fillRect/>
          </a:stretch>
        </p:blipFill>
        <p:spPr>
          <a:xfrm>
            <a:off x="1244600" y="5549900"/>
            <a:ext cx="1028700" cy="1003300"/>
          </a:xfrm>
          <a:prstGeom prst="rect">
            <a:avLst/>
          </a:prstGeom>
        </p:spPr>
      </p:pic>
      <p:pic>
        <p:nvPicPr>
          <p:cNvPr id="20" name="Picture 19" descr="Car battery.svg.png"/>
          <p:cNvPicPr>
            <a:picLocks noChangeAspect="1"/>
          </p:cNvPicPr>
          <p:nvPr/>
        </p:nvPicPr>
        <p:blipFill>
          <a:blip r:embed="rId5" cstate="print"/>
          <a:stretch>
            <a:fillRect/>
          </a:stretch>
        </p:blipFill>
        <p:spPr>
          <a:xfrm>
            <a:off x="984381" y="1816100"/>
            <a:ext cx="1314319" cy="1143000"/>
          </a:xfrm>
          <a:prstGeom prst="rect">
            <a:avLst/>
          </a:prstGeom>
        </p:spPr>
      </p:pic>
      <p:pic>
        <p:nvPicPr>
          <p:cNvPr id="21" name="Picture 20" descr="59-512.png"/>
          <p:cNvPicPr>
            <a:picLocks noChangeAspect="1"/>
          </p:cNvPicPr>
          <p:nvPr/>
        </p:nvPicPr>
        <p:blipFill>
          <a:blip r:embed="rId6" cstate="print"/>
          <a:stretch>
            <a:fillRect/>
          </a:stretch>
        </p:blipFill>
        <p:spPr>
          <a:xfrm>
            <a:off x="1130300" y="2222500"/>
            <a:ext cx="1028700" cy="863600"/>
          </a:xfrm>
          <a:prstGeom prst="rect">
            <a:avLst/>
          </a:prstGeom>
        </p:spPr>
      </p:pic>
      <p:pic>
        <p:nvPicPr>
          <p:cNvPr id="22" name="Picture 21" descr="percentage-icon.png"/>
          <p:cNvPicPr>
            <a:picLocks noChangeAspect="1"/>
          </p:cNvPicPr>
          <p:nvPr/>
        </p:nvPicPr>
        <p:blipFill>
          <a:blip r:embed="rId7" cstate="print"/>
          <a:stretch>
            <a:fillRect/>
          </a:stretch>
        </p:blipFill>
        <p:spPr>
          <a:xfrm>
            <a:off x="1143000" y="3302000"/>
            <a:ext cx="1168400" cy="990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28800" y="279400"/>
            <a:ext cx="6469888" cy="685800"/>
          </a:xfrm>
        </p:spPr>
        <p:style>
          <a:lnRef idx="1">
            <a:schemeClr val="accent2"/>
          </a:lnRef>
          <a:fillRef idx="3">
            <a:schemeClr val="accent2"/>
          </a:fillRef>
          <a:effectRef idx="2">
            <a:schemeClr val="accent2"/>
          </a:effectRef>
          <a:fontRef idx="minor">
            <a:schemeClr val="lt1"/>
          </a:fontRef>
        </p:style>
        <p:txBody>
          <a:bodyPr>
            <a:normAutofit/>
          </a:bodyPr>
          <a:lstStyle/>
          <a:p>
            <a:pPr algn="ctr"/>
            <a:r>
              <a:rPr lang="en-US" sz="2800" dirty="0">
                <a:latin typeface="Times New Roman" pitchFamily="18" charset="0"/>
                <a:cs typeface="Times New Roman" pitchFamily="18" charset="0"/>
              </a:rPr>
              <a:t>UML  USECASE DIAGRAM</a:t>
            </a:r>
          </a:p>
        </p:txBody>
      </p:sp>
      <p:pic>
        <p:nvPicPr>
          <p:cNvPr id="6" name="Picture 5" descr="Battery Management system Use Case (2).png"/>
          <p:cNvPicPr>
            <a:picLocks noChangeAspect="1"/>
          </p:cNvPicPr>
          <p:nvPr/>
        </p:nvPicPr>
        <p:blipFill>
          <a:blip r:embed="rId2" cstate="print"/>
          <a:stretch>
            <a:fillRect/>
          </a:stretch>
        </p:blipFill>
        <p:spPr>
          <a:xfrm>
            <a:off x="1066800" y="1168400"/>
            <a:ext cx="8775700" cy="6070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28800" y="279400"/>
            <a:ext cx="6469888" cy="685800"/>
          </a:xfrm>
        </p:spPr>
        <p:style>
          <a:lnRef idx="1">
            <a:schemeClr val="dk1"/>
          </a:lnRef>
          <a:fillRef idx="2">
            <a:schemeClr val="dk1"/>
          </a:fillRef>
          <a:effectRef idx="1">
            <a:schemeClr val="dk1"/>
          </a:effectRef>
          <a:fontRef idx="minor">
            <a:schemeClr val="dk1"/>
          </a:fontRef>
        </p:style>
        <p:txBody>
          <a:bodyPr>
            <a:normAutofit/>
          </a:bodyPr>
          <a:lstStyle/>
          <a:p>
            <a:pPr algn="ctr"/>
            <a:r>
              <a:rPr lang="en-US" sz="2800" dirty="0">
                <a:latin typeface="Times New Roman" pitchFamily="18" charset="0"/>
                <a:cs typeface="Times New Roman" pitchFamily="18" charset="0"/>
              </a:rPr>
              <a:t>UML  STATECHART DIAGRAM</a:t>
            </a:r>
          </a:p>
        </p:txBody>
      </p:sp>
      <p:pic>
        <p:nvPicPr>
          <p:cNvPr id="5" name="Picture 4" descr="BMS-statechart.png"/>
          <p:cNvPicPr>
            <a:picLocks noChangeAspect="1"/>
          </p:cNvPicPr>
          <p:nvPr/>
        </p:nvPicPr>
        <p:blipFill>
          <a:blip r:embed="rId2" cstate="print"/>
          <a:stretch>
            <a:fillRect/>
          </a:stretch>
        </p:blipFill>
        <p:spPr>
          <a:xfrm>
            <a:off x="1143000" y="1079500"/>
            <a:ext cx="7632700" cy="5613400"/>
          </a:xfrm>
          <a:prstGeom prst="rect">
            <a:avLst/>
          </a:prstGeom>
        </p:spPr>
      </p:pic>
      <p:sp>
        <p:nvSpPr>
          <p:cNvPr id="6" name="TextBox 5"/>
          <p:cNvSpPr txBox="1"/>
          <p:nvPr/>
        </p:nvSpPr>
        <p:spPr>
          <a:xfrm>
            <a:off x="1181100" y="1104900"/>
            <a:ext cx="2476500" cy="36933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solidFill>
                <a:schemeClr val="bg1"/>
              </a:solidFill>
            </a:endParaRPr>
          </a:p>
        </p:txBody>
      </p:sp>
      <p:sp>
        <p:nvSpPr>
          <p:cNvPr id="7" name="TextBox 6"/>
          <p:cNvSpPr txBox="1"/>
          <p:nvPr/>
        </p:nvSpPr>
        <p:spPr>
          <a:xfrm>
            <a:off x="6337300" y="6286500"/>
            <a:ext cx="2476500" cy="36933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9400"/>
            <a:ext cx="6469888" cy="685800"/>
          </a:xfrm>
        </p:spPr>
        <p:style>
          <a:lnRef idx="1">
            <a:schemeClr val="accent6"/>
          </a:lnRef>
          <a:fillRef idx="3">
            <a:schemeClr val="accent6"/>
          </a:fillRef>
          <a:effectRef idx="2">
            <a:schemeClr val="accent6"/>
          </a:effectRef>
          <a:fontRef idx="minor">
            <a:schemeClr val="lt1"/>
          </a:fontRef>
        </p:style>
        <p:txBody>
          <a:bodyPr>
            <a:normAutofit/>
          </a:bodyPr>
          <a:lstStyle/>
          <a:p>
            <a:pPr algn="ctr"/>
            <a:r>
              <a:rPr lang="en-US" sz="2800" dirty="0">
                <a:latin typeface="Times New Roman" pitchFamily="18" charset="0"/>
                <a:cs typeface="Times New Roman" pitchFamily="18" charset="0"/>
              </a:rPr>
              <a:t>UML CLASS DIAGRAM</a:t>
            </a:r>
          </a:p>
        </p:txBody>
      </p:sp>
      <p:pic>
        <p:nvPicPr>
          <p:cNvPr id="7" name="Picture 6" descr="BMS (1).png"/>
          <p:cNvPicPr>
            <a:picLocks noChangeAspect="1"/>
          </p:cNvPicPr>
          <p:nvPr/>
        </p:nvPicPr>
        <p:blipFill>
          <a:blip r:embed="rId2" cstate="print"/>
          <a:stretch>
            <a:fillRect/>
          </a:stretch>
        </p:blipFill>
        <p:spPr>
          <a:xfrm>
            <a:off x="0" y="787400"/>
            <a:ext cx="9144000" cy="6070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1003300" y="1016000"/>
            <a:ext cx="7930388" cy="5524500"/>
          </a:xfrm>
        </p:spPr>
        <p:txBody>
          <a:bodyPr numCol="2">
            <a:normAutofit/>
          </a:bodyPr>
          <a:lstStyle/>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p:txBody>
      </p:sp>
      <p:pic>
        <p:nvPicPr>
          <p:cNvPr id="11" name="Picture 10" descr="xml.png"/>
          <p:cNvPicPr>
            <a:picLocks noChangeAspect="1"/>
          </p:cNvPicPr>
          <p:nvPr/>
        </p:nvPicPr>
        <p:blipFill>
          <a:blip r:embed="rId2" cstate="print"/>
          <a:stretch>
            <a:fillRect/>
          </a:stretch>
        </p:blipFill>
        <p:spPr>
          <a:xfrm>
            <a:off x="1227138" y="1574800"/>
            <a:ext cx="1559762" cy="1079500"/>
          </a:xfrm>
          <a:prstGeom prst="rect">
            <a:avLst/>
          </a:prstGeom>
        </p:spPr>
      </p:pic>
      <p:pic>
        <p:nvPicPr>
          <p:cNvPr id="12" name="Picture 11" descr="html.png"/>
          <p:cNvPicPr>
            <a:picLocks noChangeAspect="1"/>
          </p:cNvPicPr>
          <p:nvPr/>
        </p:nvPicPr>
        <p:blipFill>
          <a:blip r:embed="rId3" cstate="print"/>
          <a:stretch>
            <a:fillRect/>
          </a:stretch>
        </p:blipFill>
        <p:spPr>
          <a:xfrm>
            <a:off x="3060700" y="1600200"/>
            <a:ext cx="1490662" cy="1244600"/>
          </a:xfrm>
          <a:prstGeom prst="rect">
            <a:avLst/>
          </a:prstGeom>
        </p:spPr>
      </p:pic>
      <p:pic>
        <p:nvPicPr>
          <p:cNvPr id="13" name="Picture 12" descr="css.jpg"/>
          <p:cNvPicPr>
            <a:picLocks noChangeAspect="1"/>
          </p:cNvPicPr>
          <p:nvPr/>
        </p:nvPicPr>
        <p:blipFill>
          <a:blip r:embed="rId4" cstate="print"/>
          <a:stretch>
            <a:fillRect/>
          </a:stretch>
        </p:blipFill>
        <p:spPr>
          <a:xfrm>
            <a:off x="1295400" y="3022600"/>
            <a:ext cx="1270000" cy="1333500"/>
          </a:xfrm>
          <a:prstGeom prst="rect">
            <a:avLst/>
          </a:prstGeom>
        </p:spPr>
      </p:pic>
      <p:pic>
        <p:nvPicPr>
          <p:cNvPr id="14" name="Picture 13" descr="bootstrap.png"/>
          <p:cNvPicPr>
            <a:picLocks noChangeAspect="1"/>
          </p:cNvPicPr>
          <p:nvPr/>
        </p:nvPicPr>
        <p:blipFill>
          <a:blip r:embed="rId5" cstate="print"/>
          <a:stretch>
            <a:fillRect/>
          </a:stretch>
        </p:blipFill>
        <p:spPr>
          <a:xfrm>
            <a:off x="3035300" y="3035300"/>
            <a:ext cx="1562100" cy="1371600"/>
          </a:xfrm>
          <a:prstGeom prst="rect">
            <a:avLst/>
          </a:prstGeom>
        </p:spPr>
      </p:pic>
      <p:pic>
        <p:nvPicPr>
          <p:cNvPr id="15" name="Picture 14" descr="js.png"/>
          <p:cNvPicPr>
            <a:picLocks noChangeAspect="1"/>
          </p:cNvPicPr>
          <p:nvPr/>
        </p:nvPicPr>
        <p:blipFill>
          <a:blip r:embed="rId6" cstate="print"/>
          <a:stretch>
            <a:fillRect/>
          </a:stretch>
        </p:blipFill>
        <p:spPr>
          <a:xfrm>
            <a:off x="2120900" y="4660900"/>
            <a:ext cx="1490662" cy="1409700"/>
          </a:xfrm>
          <a:prstGeom prst="rect">
            <a:avLst/>
          </a:prstGeom>
        </p:spPr>
      </p:pic>
      <p:pic>
        <p:nvPicPr>
          <p:cNvPr id="16" name="Picture 15" descr="java.png"/>
          <p:cNvPicPr>
            <a:picLocks noChangeAspect="1"/>
          </p:cNvPicPr>
          <p:nvPr/>
        </p:nvPicPr>
        <p:blipFill>
          <a:blip r:embed="rId7" cstate="print"/>
          <a:stretch>
            <a:fillRect/>
          </a:stretch>
        </p:blipFill>
        <p:spPr>
          <a:xfrm>
            <a:off x="5651500" y="1752600"/>
            <a:ext cx="2622550" cy="1600200"/>
          </a:xfrm>
          <a:prstGeom prst="rect">
            <a:avLst/>
          </a:prstGeom>
        </p:spPr>
      </p:pic>
      <p:pic>
        <p:nvPicPr>
          <p:cNvPr id="17" name="Picture 16" descr="php.png"/>
          <p:cNvPicPr>
            <a:picLocks noChangeAspect="1"/>
          </p:cNvPicPr>
          <p:nvPr/>
        </p:nvPicPr>
        <p:blipFill>
          <a:blip r:embed="rId8" cstate="print"/>
          <a:stretch>
            <a:fillRect/>
          </a:stretch>
        </p:blipFill>
        <p:spPr>
          <a:xfrm>
            <a:off x="6223000" y="3911600"/>
            <a:ext cx="1857306" cy="1536700"/>
          </a:xfrm>
          <a:prstGeom prst="rect">
            <a:avLst/>
          </a:prstGeom>
        </p:spPr>
      </p:pic>
      <p:sp>
        <p:nvSpPr>
          <p:cNvPr id="19" name="Title 1"/>
          <p:cNvSpPr txBox="1">
            <a:spLocks/>
          </p:cNvSpPr>
          <p:nvPr/>
        </p:nvSpPr>
        <p:spPr>
          <a:xfrm>
            <a:off x="2590799" y="228600"/>
            <a:ext cx="4851401" cy="669906"/>
          </a:xfrm>
          <a:prstGeom prst="rect">
            <a:avLst/>
          </a:prstGeom>
        </p:spPr>
        <p:style>
          <a:lnRef idx="1">
            <a:schemeClr val="accent4"/>
          </a:lnRef>
          <a:fillRef idx="3">
            <a:schemeClr val="accent4"/>
          </a:fillRef>
          <a:effectRef idx="2">
            <a:schemeClr val="accent4"/>
          </a:effectRef>
          <a:fontRef idx="minor">
            <a:schemeClr val="lt1"/>
          </a:fontRef>
        </p:style>
        <p:txBody>
          <a:bodyPr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DEVELOPMENT</a:t>
            </a:r>
          </a:p>
        </p:txBody>
      </p:sp>
      <p:sp>
        <p:nvSpPr>
          <p:cNvPr id="20" name="Rectangle 19"/>
          <p:cNvSpPr/>
          <p:nvPr/>
        </p:nvSpPr>
        <p:spPr>
          <a:xfrm>
            <a:off x="1155700" y="1034534"/>
            <a:ext cx="3708400" cy="369332"/>
          </a:xfrm>
          <a:prstGeom prst="rect">
            <a:avLst/>
          </a:prstGeom>
          <a:effectLst>
            <a:outerShdw blurRad="63500" dist="25400" dir="5400000" rotWithShape="0">
              <a:srgbClr val="000000">
                <a:alpha val="43137"/>
              </a:srgbClr>
            </a:outerShdw>
            <a:softEdge rad="127000"/>
          </a:effectLst>
        </p:spPr>
        <p:style>
          <a:lnRef idx="1">
            <a:schemeClr val="accent3"/>
          </a:lnRef>
          <a:fillRef idx="2">
            <a:schemeClr val="accent3"/>
          </a:fillRef>
          <a:effectRef idx="1">
            <a:schemeClr val="accent3"/>
          </a:effectRef>
          <a:fontRef idx="minor">
            <a:schemeClr val="dk1"/>
          </a:fontRef>
        </p:style>
        <p:txBody>
          <a:bodyPr wrap="square">
            <a:spAutoFit/>
          </a:bodyPr>
          <a:lstStyle/>
          <a:p>
            <a:pPr algn="ctr">
              <a:buNone/>
            </a:pPr>
            <a:r>
              <a:rPr lang="en-US" dirty="0">
                <a:latin typeface="Times New Roman" pitchFamily="18" charset="0"/>
                <a:cs typeface="Times New Roman" pitchFamily="18" charset="0"/>
              </a:rPr>
              <a:t>FRONT-END</a:t>
            </a:r>
          </a:p>
        </p:txBody>
      </p:sp>
      <p:sp>
        <p:nvSpPr>
          <p:cNvPr id="21" name="Rectangle 20"/>
          <p:cNvSpPr/>
          <p:nvPr/>
        </p:nvSpPr>
        <p:spPr>
          <a:xfrm>
            <a:off x="5054600" y="1072634"/>
            <a:ext cx="3708400" cy="369332"/>
          </a:xfrm>
          <a:prstGeom prst="rect">
            <a:avLst/>
          </a:prstGeom>
          <a:effectLst>
            <a:outerShdw blurRad="63500" dist="25400" dir="5400000" rotWithShape="0">
              <a:srgbClr val="000000">
                <a:alpha val="43137"/>
              </a:srgbClr>
            </a:outerShdw>
            <a:softEdge rad="127000"/>
          </a:effectLst>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dirty="0">
                <a:latin typeface="Times New Roman" pitchFamily="18" charset="0"/>
                <a:cs typeface="Times New Roman" pitchFamily="18" charset="0"/>
              </a:rPr>
              <a:t>BACKEND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28800" y="279400"/>
            <a:ext cx="6469888" cy="685800"/>
          </a:xfrm>
        </p:spPr>
        <p:style>
          <a:lnRef idx="2">
            <a:schemeClr val="dk1">
              <a:shade val="50000"/>
            </a:schemeClr>
          </a:lnRef>
          <a:fillRef idx="1">
            <a:schemeClr val="dk1"/>
          </a:fillRef>
          <a:effectRef idx="0">
            <a:schemeClr val="dk1"/>
          </a:effectRef>
          <a:fontRef idx="minor">
            <a:schemeClr val="lt1"/>
          </a:fontRef>
        </p:style>
        <p:txBody>
          <a:bodyPr>
            <a:normAutofit/>
          </a:bodyPr>
          <a:lstStyle/>
          <a:p>
            <a:pPr algn="ctr"/>
            <a:r>
              <a:rPr lang="en-US" sz="2800" dirty="0">
                <a:latin typeface="Times New Roman" pitchFamily="18" charset="0"/>
                <a:cs typeface="Times New Roman" pitchFamily="18" charset="0"/>
              </a:rPr>
              <a:t>BLOCK  DIAGRAM</a:t>
            </a:r>
          </a:p>
        </p:txBody>
      </p:sp>
      <p:pic>
        <p:nvPicPr>
          <p:cNvPr id="5" name="Picture 4" descr="block diagram.JPG"/>
          <p:cNvPicPr>
            <a:picLocks noChangeAspect="1"/>
          </p:cNvPicPr>
          <p:nvPr/>
        </p:nvPicPr>
        <p:blipFill>
          <a:blip r:embed="rId2" cstate="print"/>
          <a:stretch>
            <a:fillRect/>
          </a:stretch>
        </p:blipFill>
        <p:spPr>
          <a:xfrm>
            <a:off x="1485900" y="1231900"/>
            <a:ext cx="6489700" cy="4864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435608" y="419100"/>
            <a:ext cx="3136392" cy="571500"/>
          </a:xfrm>
        </p:spPr>
        <p:style>
          <a:lnRef idx="1">
            <a:schemeClr val="accent4"/>
          </a:lnRef>
          <a:fillRef idx="2">
            <a:schemeClr val="accent4"/>
          </a:fillRef>
          <a:effectRef idx="1">
            <a:schemeClr val="accent4"/>
          </a:effectRef>
          <a:fontRef idx="minor">
            <a:schemeClr val="dk1"/>
          </a:fontRef>
        </p:style>
        <p:txBody>
          <a:bodyPr numCol="1">
            <a:normAutofit/>
          </a:bodyPr>
          <a:lstStyle/>
          <a:p>
            <a:pPr algn="ctr"/>
            <a:r>
              <a:rPr lang="en-US" sz="2000" dirty="0">
                <a:latin typeface="Times New Roman" pitchFamily="18" charset="0"/>
                <a:cs typeface="Times New Roman" pitchFamily="18" charset="0"/>
              </a:rPr>
              <a:t>ADVANTAGES</a:t>
            </a:r>
          </a:p>
        </p:txBody>
      </p:sp>
      <p:sp>
        <p:nvSpPr>
          <p:cNvPr id="9" name="Title 1"/>
          <p:cNvSpPr txBox="1">
            <a:spLocks/>
          </p:cNvSpPr>
          <p:nvPr/>
        </p:nvSpPr>
        <p:spPr>
          <a:xfrm>
            <a:off x="5346700" y="444500"/>
            <a:ext cx="3073400" cy="584200"/>
          </a:xfrm>
          <a:prstGeom prst="rect">
            <a:avLst/>
          </a:prstGeom>
        </p:spPr>
        <p:style>
          <a:lnRef idx="1">
            <a:schemeClr val="accent6"/>
          </a:lnRef>
          <a:fillRef idx="2">
            <a:schemeClr val="accent6"/>
          </a:fillRef>
          <a:effectRef idx="1">
            <a:schemeClr val="accent6"/>
          </a:effectRef>
          <a:fontRef idx="minor">
            <a:schemeClr val="dk1"/>
          </a:fontRef>
        </p:style>
        <p:txBody>
          <a:bodyPr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lt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DISADVANTAGES</a:t>
            </a:r>
          </a:p>
        </p:txBody>
      </p:sp>
      <p:sp>
        <p:nvSpPr>
          <p:cNvPr id="11" name="TextBox 10"/>
          <p:cNvSpPr txBox="1"/>
          <p:nvPr/>
        </p:nvSpPr>
        <p:spPr>
          <a:xfrm>
            <a:off x="5270500" y="1612900"/>
            <a:ext cx="3543300" cy="3139321"/>
          </a:xfrm>
          <a:prstGeom prst="rect">
            <a:avLst/>
          </a:prstGeom>
          <a:noFill/>
        </p:spPr>
        <p:txBody>
          <a:bodyPr wrap="square" rtlCol="0">
            <a:spAutoFit/>
          </a:bodyPr>
          <a:lstStyle/>
          <a:p>
            <a:pPr algn="just">
              <a:buFont typeface="Arial" pitchFamily="34" charset="0"/>
              <a:buChar char="•"/>
            </a:pPr>
            <a:r>
              <a:rPr lang="en-US" sz="2000" dirty="0">
                <a:latin typeface="Times New Roman" pitchFamily="18" charset="0"/>
                <a:cs typeface="Times New Roman" pitchFamily="18" charset="0"/>
              </a:rPr>
              <a:t> Corrosion can cause damage to the positive and negative terminals of battery.</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Short Circuit may occur in IOT device.</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User should be aware of  using internet and smart phone.</a:t>
            </a:r>
          </a:p>
          <a:p>
            <a:endParaRPr lang="en-US" dirty="0"/>
          </a:p>
        </p:txBody>
      </p:sp>
      <p:sp>
        <p:nvSpPr>
          <p:cNvPr id="12" name="TextBox 11"/>
          <p:cNvSpPr txBox="1"/>
          <p:nvPr/>
        </p:nvSpPr>
        <p:spPr>
          <a:xfrm>
            <a:off x="1422400" y="1562100"/>
            <a:ext cx="3187700" cy="3447098"/>
          </a:xfrm>
          <a:prstGeom prst="rect">
            <a:avLst/>
          </a:prstGeom>
          <a:noFill/>
        </p:spPr>
        <p:txBody>
          <a:bodyPr wrap="square" rtlCol="0">
            <a:spAutoFit/>
          </a:bodyPr>
          <a:lstStyle/>
          <a:p>
            <a:pPr algn="just">
              <a:buFont typeface="Arial" pitchFamily="34" charset="0"/>
              <a:buChar char="•"/>
            </a:pPr>
            <a:r>
              <a:rPr lang="en-US" sz="2000" dirty="0">
                <a:latin typeface="Times New Roman" pitchFamily="18" charset="0"/>
                <a:cs typeface="Times New Roman" pitchFamily="18" charset="0"/>
              </a:rPr>
              <a:t> Our system makes easy      Monitoring.</a:t>
            </a:r>
          </a:p>
          <a:p>
            <a:pPr algn="just">
              <a:buFont typeface="Arial" pitchFamily="34" charset="0"/>
              <a:buChar char="•"/>
            </a:pPr>
            <a:endParaRPr lang="en-US" sz="2000" dirty="0">
              <a:latin typeface="Times New Roman" pitchFamily="18" charset="0"/>
              <a:cs typeface="Times New Roman" pitchFamily="18" charset="0"/>
            </a:endParaRPr>
          </a:p>
          <a:p>
            <a:pPr algn="just">
              <a:buFont typeface="Arial" pitchFamily="34" charset="0"/>
              <a:buChar char="•"/>
            </a:pPr>
            <a:r>
              <a:rPr lang="en-US" sz="2000" dirty="0">
                <a:latin typeface="Times New Roman" pitchFamily="18" charset="0"/>
                <a:cs typeface="Times New Roman" pitchFamily="18" charset="0"/>
              </a:rPr>
              <a:t> Less Cost regarding battery.</a:t>
            </a:r>
          </a:p>
          <a:p>
            <a:pPr algn="just">
              <a:buFont typeface="Arial" pitchFamily="34" charset="0"/>
              <a:buChar char="•"/>
            </a:pPr>
            <a:endParaRPr lang="en-US" sz="2000" dirty="0">
              <a:latin typeface="Times New Roman" pitchFamily="18" charset="0"/>
              <a:cs typeface="Times New Roman" pitchFamily="18" charset="0"/>
            </a:endParaRPr>
          </a:p>
          <a:p>
            <a:pPr algn="just" fontAlgn="t">
              <a:buFont typeface="Arial" pitchFamily="34" charset="0"/>
              <a:buChar char="•"/>
            </a:pPr>
            <a:r>
              <a:rPr lang="en-US" sz="2000" dirty="0">
                <a:latin typeface="Times New Roman" pitchFamily="18" charset="0"/>
                <a:cs typeface="Times New Roman" pitchFamily="18" charset="0"/>
              </a:rPr>
              <a:t> High efficiency in sensing the  battery.</a:t>
            </a:r>
          </a:p>
          <a:p>
            <a:pPr algn="just" fontAlgn="t">
              <a:buFont typeface="Arial" pitchFamily="34" charset="0"/>
              <a:buChar char="•"/>
            </a:pPr>
            <a:endParaRPr lang="en-US" sz="2000" dirty="0">
              <a:latin typeface="Times New Roman" pitchFamily="18" charset="0"/>
              <a:cs typeface="Times New Roman" pitchFamily="18" charset="0"/>
            </a:endParaRPr>
          </a:p>
          <a:p>
            <a:pPr algn="just" fontAlgn="t">
              <a:buFont typeface="Arial" pitchFamily="34" charset="0"/>
              <a:buChar char="•"/>
            </a:pPr>
            <a:r>
              <a:rPr lang="en-US" sz="2000" dirty="0">
                <a:latin typeface="Times New Roman" pitchFamily="18" charset="0"/>
                <a:cs typeface="Times New Roman" pitchFamily="18" charset="0"/>
              </a:rPr>
              <a:t> Gives the User Interface through  various platforms.</a:t>
            </a:r>
            <a:r>
              <a:rPr lang="en-US" sz="2000"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03400" y="165100"/>
            <a:ext cx="6469888" cy="685800"/>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2800" dirty="0">
                <a:latin typeface="Times New Roman" pitchFamily="18" charset="0"/>
                <a:cs typeface="Times New Roman" pitchFamily="18" charset="0"/>
              </a:rPr>
              <a:t>SCREENSHOTS</a:t>
            </a:r>
          </a:p>
        </p:txBody>
      </p:sp>
      <p:sp>
        <p:nvSpPr>
          <p:cNvPr id="5" name="Rectangle 4"/>
          <p:cNvSpPr/>
          <p:nvPr/>
        </p:nvSpPr>
        <p:spPr>
          <a:xfrm>
            <a:off x="3136900" y="1174234"/>
            <a:ext cx="3708400" cy="369332"/>
          </a:xfrm>
          <a:prstGeom prst="rect">
            <a:avLst/>
          </a:prstGeom>
          <a:effectLst>
            <a:outerShdw blurRad="63500" dist="25400" dir="5400000" rotWithShape="0">
              <a:srgbClr val="000000">
                <a:alpha val="43137"/>
              </a:srgbClr>
            </a:outerShdw>
            <a:softEdge rad="127000"/>
          </a:effectLst>
        </p:spPr>
        <p:style>
          <a:lnRef idx="1">
            <a:schemeClr val="accent3"/>
          </a:lnRef>
          <a:fillRef idx="2">
            <a:schemeClr val="accent3"/>
          </a:fillRef>
          <a:effectRef idx="1">
            <a:schemeClr val="accent3"/>
          </a:effectRef>
          <a:fontRef idx="minor">
            <a:schemeClr val="dk1"/>
          </a:fontRef>
        </p:style>
        <p:txBody>
          <a:bodyPr wrap="square">
            <a:spAutoFit/>
          </a:bodyPr>
          <a:lstStyle/>
          <a:p>
            <a:pPr algn="ctr">
              <a:buNone/>
            </a:pPr>
            <a:r>
              <a:rPr lang="en-US" dirty="0">
                <a:latin typeface="Times New Roman" pitchFamily="18" charset="0"/>
                <a:cs typeface="Times New Roman" pitchFamily="18" charset="0"/>
              </a:rPr>
              <a:t>MOBILE APP</a:t>
            </a:r>
          </a:p>
        </p:txBody>
      </p:sp>
      <p:pic>
        <p:nvPicPr>
          <p:cNvPr id="9" name="Picture 8" descr="5.jpeg"/>
          <p:cNvPicPr>
            <a:picLocks noChangeAspect="1"/>
          </p:cNvPicPr>
          <p:nvPr/>
        </p:nvPicPr>
        <p:blipFill>
          <a:blip r:embed="rId2" cstate="print"/>
          <a:stretch>
            <a:fillRect/>
          </a:stretch>
        </p:blipFill>
        <p:spPr>
          <a:xfrm>
            <a:off x="165100" y="1905000"/>
            <a:ext cx="1951832" cy="3441700"/>
          </a:xfrm>
          <a:prstGeom prst="rect">
            <a:avLst/>
          </a:prstGeom>
        </p:spPr>
      </p:pic>
      <p:pic>
        <p:nvPicPr>
          <p:cNvPr id="11" name="Picture 10" descr="6.jpeg"/>
          <p:cNvPicPr>
            <a:picLocks noChangeAspect="1"/>
          </p:cNvPicPr>
          <p:nvPr/>
        </p:nvPicPr>
        <p:blipFill>
          <a:blip r:embed="rId3" cstate="print"/>
          <a:stretch>
            <a:fillRect/>
          </a:stretch>
        </p:blipFill>
        <p:spPr>
          <a:xfrm>
            <a:off x="2298701" y="1889476"/>
            <a:ext cx="1874044" cy="3431823"/>
          </a:xfrm>
          <a:prstGeom prst="rect">
            <a:avLst/>
          </a:prstGeom>
        </p:spPr>
      </p:pic>
      <p:pic>
        <p:nvPicPr>
          <p:cNvPr id="12" name="Picture 11" descr="7.jpeg"/>
          <p:cNvPicPr>
            <a:picLocks noChangeAspect="1"/>
          </p:cNvPicPr>
          <p:nvPr/>
        </p:nvPicPr>
        <p:blipFill>
          <a:blip r:embed="rId4" cstate="print"/>
          <a:stretch>
            <a:fillRect/>
          </a:stretch>
        </p:blipFill>
        <p:spPr>
          <a:xfrm>
            <a:off x="6694488" y="1930400"/>
            <a:ext cx="2250281" cy="3467100"/>
          </a:xfrm>
          <a:prstGeom prst="rect">
            <a:avLst/>
          </a:prstGeom>
        </p:spPr>
      </p:pic>
      <p:pic>
        <p:nvPicPr>
          <p:cNvPr id="13" name="Picture 12" descr="7(i).jpeg"/>
          <p:cNvPicPr>
            <a:picLocks noChangeAspect="1"/>
          </p:cNvPicPr>
          <p:nvPr/>
        </p:nvPicPr>
        <p:blipFill>
          <a:blip r:embed="rId5" cstate="print"/>
          <a:stretch>
            <a:fillRect/>
          </a:stretch>
        </p:blipFill>
        <p:spPr>
          <a:xfrm>
            <a:off x="4294187" y="1910644"/>
            <a:ext cx="2297113" cy="3436056"/>
          </a:xfrm>
          <a:prstGeom prst="rect">
            <a:avLst/>
          </a:prstGeom>
        </p:spPr>
      </p:pic>
      <p:sp>
        <p:nvSpPr>
          <p:cNvPr id="8" name="TextBox 7"/>
          <p:cNvSpPr txBox="1"/>
          <p:nvPr/>
        </p:nvSpPr>
        <p:spPr>
          <a:xfrm>
            <a:off x="254000" y="5537200"/>
            <a:ext cx="1727200" cy="369332"/>
          </a:xfrm>
          <a:prstGeom prst="rect">
            <a:avLst/>
          </a:prstGeom>
          <a:noFill/>
        </p:spPr>
        <p:txBody>
          <a:bodyPr wrap="square" rtlCol="0">
            <a:spAutoFit/>
          </a:bodyPr>
          <a:lstStyle/>
          <a:p>
            <a:pPr algn="ctr"/>
            <a:r>
              <a:rPr lang="en-US" b="1" dirty="0">
                <a:solidFill>
                  <a:srgbClr val="0070C0"/>
                </a:solidFill>
                <a:latin typeface="Times New Roman" pitchFamily="18" charset="0"/>
                <a:cs typeface="Times New Roman" pitchFamily="18" charset="0"/>
              </a:rPr>
              <a:t>Percentage</a:t>
            </a:r>
          </a:p>
        </p:txBody>
      </p:sp>
      <p:sp>
        <p:nvSpPr>
          <p:cNvPr id="10" name="TextBox 9"/>
          <p:cNvSpPr txBox="1"/>
          <p:nvPr/>
        </p:nvSpPr>
        <p:spPr>
          <a:xfrm>
            <a:off x="2603500" y="5537200"/>
            <a:ext cx="1727200" cy="369332"/>
          </a:xfrm>
          <a:prstGeom prst="rect">
            <a:avLst/>
          </a:prstGeom>
          <a:noFill/>
        </p:spPr>
        <p:txBody>
          <a:bodyPr wrap="square" rtlCol="0">
            <a:spAutoFit/>
          </a:bodyPr>
          <a:lstStyle/>
          <a:p>
            <a:r>
              <a:rPr lang="en-US" b="1" dirty="0">
                <a:solidFill>
                  <a:srgbClr val="C00000"/>
                </a:solidFill>
                <a:latin typeface="Times New Roman" pitchFamily="18" charset="0"/>
                <a:cs typeface="Times New Roman" pitchFamily="18" charset="0"/>
              </a:rPr>
              <a:t>Temperature</a:t>
            </a:r>
          </a:p>
        </p:txBody>
      </p:sp>
      <p:sp>
        <p:nvSpPr>
          <p:cNvPr id="14" name="TextBox 13"/>
          <p:cNvSpPr txBox="1"/>
          <p:nvPr/>
        </p:nvSpPr>
        <p:spPr>
          <a:xfrm>
            <a:off x="5041900" y="5422900"/>
            <a:ext cx="2832100" cy="646331"/>
          </a:xfrm>
          <a:prstGeom prst="rect">
            <a:avLst/>
          </a:prstGeom>
          <a:noFill/>
        </p:spPr>
        <p:txBody>
          <a:bodyPr wrap="square" rtlCol="0">
            <a:spAutoFit/>
          </a:bodyPr>
          <a:lstStyle/>
          <a:p>
            <a:pPr algn="ctr"/>
            <a:r>
              <a:rPr lang="en-US" b="1" dirty="0">
                <a:solidFill>
                  <a:schemeClr val="accent4"/>
                </a:solidFill>
                <a:latin typeface="Times New Roman" pitchFamily="18" charset="0"/>
                <a:cs typeface="Times New Roman" pitchFamily="18" charset="0"/>
              </a:rPr>
              <a:t>Charging / discharging Status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35300" y="158234"/>
            <a:ext cx="3708400" cy="369332"/>
          </a:xfrm>
          <a:prstGeom prst="rect">
            <a:avLst/>
          </a:prstGeom>
          <a:effectLst>
            <a:outerShdw blurRad="63500" dist="25400" dir="5400000" rotWithShape="0">
              <a:srgbClr val="000000">
                <a:alpha val="43137"/>
              </a:srgbClr>
            </a:outerShdw>
            <a:softEdge rad="127000"/>
          </a:effectLst>
        </p:spPr>
        <p:style>
          <a:lnRef idx="1">
            <a:schemeClr val="accent3"/>
          </a:lnRef>
          <a:fillRef idx="2">
            <a:schemeClr val="accent3"/>
          </a:fillRef>
          <a:effectRef idx="1">
            <a:schemeClr val="accent3"/>
          </a:effectRef>
          <a:fontRef idx="minor">
            <a:schemeClr val="dk1"/>
          </a:fontRef>
        </p:style>
        <p:txBody>
          <a:bodyPr wrap="square">
            <a:spAutoFit/>
          </a:bodyPr>
          <a:lstStyle/>
          <a:p>
            <a:pPr algn="ctr">
              <a:buNone/>
            </a:pPr>
            <a:r>
              <a:rPr lang="en-US" dirty="0">
                <a:latin typeface="Times New Roman" pitchFamily="18" charset="0"/>
                <a:cs typeface="Times New Roman" pitchFamily="18" charset="0"/>
              </a:rPr>
              <a:t>WEBSITE</a:t>
            </a:r>
          </a:p>
        </p:txBody>
      </p:sp>
      <p:pic>
        <p:nvPicPr>
          <p:cNvPr id="5" name="Picture 4" descr="Web1.JPG"/>
          <p:cNvPicPr>
            <a:picLocks noChangeAspect="1"/>
          </p:cNvPicPr>
          <p:nvPr/>
        </p:nvPicPr>
        <p:blipFill>
          <a:blip r:embed="rId2" cstate="print"/>
          <a:stretch>
            <a:fillRect/>
          </a:stretch>
        </p:blipFill>
        <p:spPr>
          <a:xfrm>
            <a:off x="1219200" y="531813"/>
            <a:ext cx="2870200" cy="3151188"/>
          </a:xfrm>
          <a:prstGeom prst="rect">
            <a:avLst/>
          </a:prstGeom>
        </p:spPr>
      </p:pic>
      <p:pic>
        <p:nvPicPr>
          <p:cNvPr id="7" name="Picture 6" descr="web3.JPG"/>
          <p:cNvPicPr>
            <a:picLocks noChangeAspect="1"/>
          </p:cNvPicPr>
          <p:nvPr/>
        </p:nvPicPr>
        <p:blipFill>
          <a:blip r:embed="rId3" cstate="print"/>
          <a:stretch>
            <a:fillRect/>
          </a:stretch>
        </p:blipFill>
        <p:spPr>
          <a:xfrm>
            <a:off x="5367337" y="582613"/>
            <a:ext cx="2905125" cy="3189288"/>
          </a:xfrm>
          <a:prstGeom prst="rect">
            <a:avLst/>
          </a:prstGeom>
        </p:spPr>
      </p:pic>
      <p:pic>
        <p:nvPicPr>
          <p:cNvPr id="10" name="Picture 9" descr="web6.JPG"/>
          <p:cNvPicPr>
            <a:picLocks noChangeAspect="1"/>
          </p:cNvPicPr>
          <p:nvPr/>
        </p:nvPicPr>
        <p:blipFill>
          <a:blip r:embed="rId4" cstate="print"/>
          <a:stretch>
            <a:fillRect/>
          </a:stretch>
        </p:blipFill>
        <p:spPr>
          <a:xfrm>
            <a:off x="1244600" y="4178300"/>
            <a:ext cx="5486400" cy="2451100"/>
          </a:xfrm>
          <a:prstGeom prst="rect">
            <a:avLst/>
          </a:prstGeom>
        </p:spPr>
      </p:pic>
      <p:sp>
        <p:nvSpPr>
          <p:cNvPr id="11" name="TextBox 10"/>
          <p:cNvSpPr txBox="1"/>
          <p:nvPr/>
        </p:nvSpPr>
        <p:spPr>
          <a:xfrm>
            <a:off x="1612900" y="3733800"/>
            <a:ext cx="1854200" cy="307777"/>
          </a:xfrm>
          <a:prstGeom prst="rect">
            <a:avLst/>
          </a:prstGeom>
          <a:noFill/>
        </p:spPr>
        <p:txBody>
          <a:bodyPr wrap="square" rtlCol="0">
            <a:spAutoFit/>
          </a:bodyPr>
          <a:lstStyle/>
          <a:p>
            <a:pPr algn="ctr"/>
            <a:r>
              <a:rPr lang="en-US" sz="1400" b="1" dirty="0">
                <a:solidFill>
                  <a:srgbClr val="FF0000"/>
                </a:solidFill>
                <a:latin typeface="Times New Roman" pitchFamily="18" charset="0"/>
                <a:cs typeface="Times New Roman" pitchFamily="18" charset="0"/>
              </a:rPr>
              <a:t>Home Page</a:t>
            </a:r>
          </a:p>
        </p:txBody>
      </p:sp>
      <p:sp>
        <p:nvSpPr>
          <p:cNvPr id="12" name="TextBox 11"/>
          <p:cNvSpPr txBox="1"/>
          <p:nvPr/>
        </p:nvSpPr>
        <p:spPr>
          <a:xfrm>
            <a:off x="5905500" y="3784600"/>
            <a:ext cx="1854200" cy="307777"/>
          </a:xfrm>
          <a:prstGeom prst="rect">
            <a:avLst/>
          </a:prstGeom>
          <a:noFill/>
        </p:spPr>
        <p:txBody>
          <a:bodyPr wrap="square" rtlCol="0">
            <a:spAutoFit/>
          </a:bodyPr>
          <a:lstStyle/>
          <a:p>
            <a:pPr algn="ctr"/>
            <a:r>
              <a:rPr lang="en-US" sz="1400" b="1" dirty="0">
                <a:solidFill>
                  <a:srgbClr val="0070C0"/>
                </a:solidFill>
                <a:latin typeface="Times New Roman" pitchFamily="18" charset="0"/>
                <a:cs typeface="Times New Roman" pitchFamily="18" charset="0"/>
              </a:rPr>
              <a:t>Services</a:t>
            </a:r>
          </a:p>
        </p:txBody>
      </p:sp>
      <p:sp>
        <p:nvSpPr>
          <p:cNvPr id="13" name="TextBox 12"/>
          <p:cNvSpPr txBox="1"/>
          <p:nvPr/>
        </p:nvSpPr>
        <p:spPr>
          <a:xfrm>
            <a:off x="6858000" y="5130800"/>
            <a:ext cx="1854200" cy="523220"/>
          </a:xfrm>
          <a:prstGeom prst="rect">
            <a:avLst/>
          </a:prstGeom>
          <a:noFill/>
        </p:spPr>
        <p:txBody>
          <a:bodyPr wrap="square" rtlCol="0">
            <a:spAutoFit/>
          </a:bodyPr>
          <a:lstStyle/>
          <a:p>
            <a:pPr algn="ctr"/>
            <a:r>
              <a:rPr lang="en-US" sz="1400" b="1" dirty="0">
                <a:solidFill>
                  <a:srgbClr val="FF0000"/>
                </a:solidFill>
                <a:latin typeface="Times New Roman" pitchFamily="18" charset="0"/>
                <a:cs typeface="Times New Roman" pitchFamily="18" charset="0"/>
              </a:rPr>
              <a:t>Battery Monitoring System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828800" y="279400"/>
            <a:ext cx="6469888" cy="685800"/>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2800" dirty="0">
                <a:latin typeface="Times New Roman" pitchFamily="18" charset="0"/>
                <a:cs typeface="Times New Roman" pitchFamily="18" charset="0"/>
              </a:rPr>
              <a:t>FUTURE ENHANCEMNT</a:t>
            </a:r>
          </a:p>
        </p:txBody>
      </p:sp>
      <p:sp>
        <p:nvSpPr>
          <p:cNvPr id="5" name="Rectangle 4"/>
          <p:cNvSpPr/>
          <p:nvPr/>
        </p:nvSpPr>
        <p:spPr>
          <a:xfrm>
            <a:off x="1320800" y="1305342"/>
            <a:ext cx="7175500" cy="1323439"/>
          </a:xfrm>
          <a:prstGeom prst="rect">
            <a:avLst/>
          </a:prstGeom>
        </p:spPr>
        <p:txBody>
          <a:bodyPr wrap="square">
            <a:spAutoFit/>
          </a:bodyPr>
          <a:lstStyle/>
          <a:p>
            <a:pPr algn="just"/>
            <a:r>
              <a:rPr lang="en-IN" sz="2000" dirty="0">
                <a:latin typeface="Times New Roman" pitchFamily="18" charset="0"/>
                <a:cs typeface="Times New Roman" pitchFamily="18" charset="0"/>
              </a:rPr>
              <a:t> Our Battery management system which was developed is a basic model, which can be suitable to work in any vehicle like electric vehicles and non electric vehicle also but it only monitors the battery. So taking our project to next level is deploying it in cloud.</a:t>
            </a:r>
            <a:endParaRPr lang="en-US" sz="2000" dirty="0">
              <a:latin typeface="Times New Roman" pitchFamily="18" charset="0"/>
              <a:cs typeface="Times New Roman" pitchFamily="18" charset="0"/>
            </a:endParaRPr>
          </a:p>
        </p:txBody>
      </p:sp>
      <p:pic>
        <p:nvPicPr>
          <p:cNvPr id="6" name="Picture 5" descr="iot.jpg"/>
          <p:cNvPicPr>
            <a:picLocks noChangeAspect="1"/>
          </p:cNvPicPr>
          <p:nvPr/>
        </p:nvPicPr>
        <p:blipFill>
          <a:blip r:embed="rId2" cstate="print"/>
          <a:stretch>
            <a:fillRect/>
          </a:stretch>
        </p:blipFill>
        <p:spPr>
          <a:xfrm>
            <a:off x="2108201" y="2921000"/>
            <a:ext cx="5613400" cy="3454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iphy.gif"/>
          <p:cNvPicPr>
            <a:picLocks noChangeAspect="1"/>
          </p:cNvPicPr>
          <p:nvPr/>
        </p:nvPicPr>
        <p:blipFill>
          <a:blip r:embed="rId2" cstate="print"/>
          <a:stretch>
            <a:fillRect/>
          </a:stretch>
        </p:blipFill>
        <p:spPr>
          <a:xfrm>
            <a:off x="1968500" y="2679700"/>
            <a:ext cx="6692900" cy="3810000"/>
          </a:xfrm>
          <a:prstGeom prst="rect">
            <a:avLst/>
          </a:prstGeom>
        </p:spPr>
      </p:pic>
      <p:pic>
        <p:nvPicPr>
          <p:cNvPr id="1026" name="Picture 2" descr="C:\Users\Parab\Desktop\12.jpg"/>
          <p:cNvPicPr>
            <a:picLocks noChangeAspect="1" noChangeArrowheads="1"/>
          </p:cNvPicPr>
          <p:nvPr/>
        </p:nvPicPr>
        <p:blipFill>
          <a:blip r:embed="rId3" cstate="print"/>
          <a:srcRect/>
          <a:stretch>
            <a:fillRect/>
          </a:stretch>
        </p:blipFill>
        <p:spPr bwMode="auto">
          <a:xfrm>
            <a:off x="1955800" y="952501"/>
            <a:ext cx="6731000" cy="28575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672</TotalTime>
  <Words>546</Words>
  <Application>Microsoft Office PowerPoint</Application>
  <PresentationFormat>On-screen Show (4:3)</PresentationFormat>
  <Paragraphs>88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Gill Sans MT</vt:lpstr>
      <vt:lpstr>Times New Roman</vt:lpstr>
      <vt:lpstr>Verdana</vt:lpstr>
      <vt:lpstr>Wingdings</vt:lpstr>
      <vt:lpstr>Wingdings 2</vt:lpstr>
      <vt:lpstr>Solstice</vt:lpstr>
      <vt:lpstr>PowerPoint Presentation</vt:lpstr>
      <vt:lpstr>INTRODUCTION</vt:lpstr>
      <vt:lpstr>LITERATURE SURVEY</vt:lpstr>
      <vt:lpstr>PowerPoint Presentation</vt:lpstr>
      <vt:lpstr>PowerPoint Presentation</vt:lpstr>
      <vt:lpstr>  REQUIREMENTS</vt:lpstr>
      <vt:lpstr>PowerPoint Presentation</vt:lpstr>
      <vt:lpstr>UML  USECASE DIAGRAM</vt:lpstr>
      <vt:lpstr>UML  STATECHART DIAGRAM</vt:lpstr>
      <vt:lpstr>UML CLASS DIAGRAM</vt:lpstr>
      <vt:lpstr>PowerPoint Presentation</vt:lpstr>
      <vt:lpstr>BLOCK  DIAGRAM</vt:lpstr>
      <vt:lpstr>ADVANTAGES</vt:lpstr>
      <vt:lpstr>SCREENSHOTS</vt:lpstr>
      <vt:lpstr>PowerPoint Presentation</vt:lpstr>
      <vt:lpstr>FUTURE ENHANCEMNT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MLRIT</dc:creator>
  <cp:lastModifiedBy>Teja Reddy</cp:lastModifiedBy>
  <cp:revision>97</cp:revision>
  <dcterms:created xsi:type="dcterms:W3CDTF">2014-09-16T21:40:01Z</dcterms:created>
  <dcterms:modified xsi:type="dcterms:W3CDTF">2025-08-26T05:55:28Z</dcterms:modified>
</cp:coreProperties>
</file>